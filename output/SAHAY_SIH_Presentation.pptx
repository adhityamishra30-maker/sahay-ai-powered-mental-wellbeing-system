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269b1e6d704ee0" /><Relationship Type="http://schemas.openxmlformats.org/officeDocument/2006/relationships/extended-properties" Target="/docProps/app.xml" Id="Rfaedb4ba0ef6457b" /><Relationship Type="http://schemas.openxmlformats.org/officeDocument/2006/relationships/officeDocument" Target="/ppt/presentation.xml" Id="R69e63c35f12c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3219f964c4baa"/>
  </p:sldMasterIdLst>
  <p:notesMasterIdLst>
    <p:notesMasterId xmlns:r="http://schemas.openxmlformats.org/officeDocument/2006/relationships" r:id="R9ed89806c342460c"/>
  </p:notesMasterIdLst>
  <p:sldIdLst>
    <p:sldId xmlns:r="http://schemas.openxmlformats.org/officeDocument/2006/relationships" id="256" r:id="Rb7c1288b489d4474"/>
    <p:sldId xmlns:r="http://schemas.openxmlformats.org/officeDocument/2006/relationships" id="257" r:id="R036915437b744903"/>
    <p:sldId xmlns:r="http://schemas.openxmlformats.org/officeDocument/2006/relationships" id="258" r:id="R8d466ddbc4fe4843"/>
    <p:sldId xmlns:r="http://schemas.openxmlformats.org/officeDocument/2006/relationships" id="259" r:id="R2e49970fab994892"/>
    <p:sldId xmlns:r="http://schemas.openxmlformats.org/officeDocument/2006/relationships" id="260" r:id="Rc2137760cc8c4805"/>
    <p:sldId xmlns:r="http://schemas.openxmlformats.org/officeDocument/2006/relationships" id="261" r:id="R9330bc7a595948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7246f17a7d4839" /><Relationship Type="http://schemas.openxmlformats.org/officeDocument/2006/relationships/slideMaster" Target="/ppt/slideMasters/slideMaster1.xml" Id="R7c53219f964c4baa" /><Relationship Type="http://schemas.openxmlformats.org/officeDocument/2006/relationships/notesMaster" Target="/ppt/notesMasters/notesMaster1.xml" Id="R9ed89806c342460c" /><Relationship Type="http://schemas.openxmlformats.org/officeDocument/2006/relationships/presProps" Target="/ppt/presProps.xml" Id="R6c29fcba51ce4ab1" /><Relationship Type="http://schemas.openxmlformats.org/officeDocument/2006/relationships/tableStyles" Target="/ppt/tableStyles.xml" Id="R60a2794491e6405f" /><Relationship Type="http://schemas.openxmlformats.org/officeDocument/2006/relationships/slide" Target="/ppt/slides/slide1.xml" Id="Rb7c1288b489d4474" /><Relationship Type="http://schemas.openxmlformats.org/officeDocument/2006/relationships/slide" Target="/ppt/slides/slide2.xml" Id="R036915437b744903" /><Relationship Type="http://schemas.openxmlformats.org/officeDocument/2006/relationships/slide" Target="/ppt/slides/slide3.xml" Id="R8d466ddbc4fe4843" /><Relationship Type="http://schemas.openxmlformats.org/officeDocument/2006/relationships/slide" Target="/ppt/slides/slide4.xml" Id="R2e49970fab994892" /><Relationship Type="http://schemas.openxmlformats.org/officeDocument/2006/relationships/slide" Target="/ppt/slides/slide5.xml" Id="Rc2137760cc8c4805" /><Relationship Type="http://schemas.openxmlformats.org/officeDocument/2006/relationships/slide" Target="/ppt/slides/slide6.xml" Id="R9330bc7a5959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6dd660a4f4c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66d28ec77a420f" /><Relationship Type="http://schemas.openxmlformats.org/officeDocument/2006/relationships/notesMaster" Target="/ppt/notesMasters/notesMaster1.xml" Id="R3e00d6505624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bcf9d48424dee" /><Relationship Type="http://schemas.openxmlformats.org/officeDocument/2006/relationships/notesMaster" Target="/ppt/notesMasters/notesMaster1.xml" Id="R5c107c4aa8ec4c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bbb9d630a44bf9" /><Relationship Type="http://schemas.openxmlformats.org/officeDocument/2006/relationships/notesMaster" Target="/ppt/notesMasters/notesMaster1.xml" Id="R966c2b6a16bb4e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e4d8cd5b54239" /><Relationship Type="http://schemas.openxmlformats.org/officeDocument/2006/relationships/notesMaster" Target="/ppt/notesMasters/notesMaster1.xml" Id="Rf2f5a4786fbb4d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1f40a8a29456e" /><Relationship Type="http://schemas.openxmlformats.org/officeDocument/2006/relationships/notesMaster" Target="/ppt/notesMasters/notesMaster1.xml" Id="R36a652b24a914e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5a022b6afc40a1" /><Relationship Type="http://schemas.openxmlformats.org/officeDocument/2006/relationships/notesMaster" Target="/ppt/notesMasters/notesMaster1.xml" Id="R72624105f777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SAHAY project scope and current application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SAHAY project problem framing. Claims describe the proposed workflow, not measured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SAHAY repository configuration and src/pages/api/chat.ts.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SAHAY repository configuration, .env.example, and proposed implementation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SAHAY project scope and safety constraints in src/pages/api/chat.ts.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SAHAY current implementation; Astro docs; React docs; Tailwind CSS docs; Google Gemini API docs; OpenAI API docs. Verify official SIH requirements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624089ef447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0c1e244454879" /><Relationship Type="http://schemas.openxmlformats.org/officeDocument/2006/relationships/slideLayout" Target="/ppt/slideLayouts/slideLayout1.xml" Id="R258ac98f80094a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ac98f80094a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01a7289f94eb1" /><Relationship Type="http://schemas.openxmlformats.org/officeDocument/2006/relationships/notesSlide" Target="/ppt/notesSlides/notesSlide1.xml" Id="R104917068412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917e190254024" /><Relationship Type="http://schemas.openxmlformats.org/officeDocument/2006/relationships/notesSlide" Target="/ppt/notesSlides/notesSlide2.xml" Id="R87c6bf8ab6ca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96dd9d7604d72" /><Relationship Type="http://schemas.openxmlformats.org/officeDocument/2006/relationships/notesSlide" Target="/ppt/notesSlides/notesSlide3.xml" Id="R8b26160a55464b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a654eabe245c8" /><Relationship Type="http://schemas.openxmlformats.org/officeDocument/2006/relationships/notesSlide" Target="/ppt/notesSlides/notesSlide4.xml" Id="R5f74b086032b41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e3a76e71e41d7" /><Relationship Type="http://schemas.openxmlformats.org/officeDocument/2006/relationships/notesSlide" Target="/ppt/notesSlides/notesSlide5.xml" Id="R15742680b729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fdb42fd3d4c3f" /><Relationship Type="http://schemas.openxmlformats.org/officeDocument/2006/relationships/notesSlide" Target="/ppt/notesSlides/notesSlide6.xml" Id="R212e99d5fb0648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79FD2-4039-4A94-AFF0-FB06F0AE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077B-2CD2-42B1-AB46-8372DED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SIH</a:t>
            </a:r>
          </a:p>
          <a:p xmlns:a="http://schemas.openxmlformats.org/drawingml/2006/main">
            <a:pPr algn="r">
              <a:defRPr sz="150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3A47D-7BF7-4B9D-A88A-8D8D74D2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SAHAY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9CC6A-6F42-49B7-8CE0-84F5BFA3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AI-powered victim well-being and</a:t>
            </a:r>
          </a:p>
          <a:p xmlns:a="http://schemas.openxmlformats.org/drawingml/2006/main">
            <a:pPr algn="l">
              <a:defRPr sz="202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distress monitoring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F36E0-E573-41C7-9365-82BD6C1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F9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1AE5D-51D8-4B39-92F0-650F5A70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1820"/>
                </a:solidFill>
                <a:latin typeface="Arial"/>
                <a:ea typeface="Arial"/>
                <a:cs typeface="Arial"/>
              </a:rPr>
              <a:t>Problem Statement ID: [Add official SIH ID]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D42C7-25F7-49B4-A950-CD32A687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Theme: Social welfare and citizen support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Category: Software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Team ID: [Add Team ID]</a:t>
            </a:r>
          </a:p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Team Name: [Add Team Name]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287F8-60C6-4518-86BE-C963DBF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52550"/>
            <a:ext cx="366712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73B24-AE01-4831-ADDF-72EE2F77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651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A safer path</a:t>
            </a:r>
          </a:p>
          <a:p xmlns:a="http://schemas.openxmlformats.org/drawingml/2006/main">
            <a:pPr algn="ctr">
              <a:defRPr sz="262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from check-in</a:t>
            </a:r>
          </a:p>
          <a:p xmlns:a="http://schemas.openxmlformats.org/drawingml/2006/main">
            <a:pPr algn="ctr">
              <a:defRPr sz="262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to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7923F-9193-4A4C-868E-24BAA8CD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575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Consent-first check-ins</a:t>
            </a:r>
          </a:p>
          <a:p xmlns:a="http://schemas.openxmlformats.org/drawingml/2006/main">
            <a:pPr algn="ctr"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Structured AI risk assessment</a:t>
            </a:r>
          </a:p>
          <a:p xmlns:a="http://schemas.openxmlformats.org/drawingml/2006/main">
            <a:pPr algn="ctr"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Counsellor follow-up and audit trail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073B4-1F6B-4863-82DE-827E719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Prepared for Smart India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822664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1C61C-B688-4007-802B-ED399585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BF403-3D23-4B05-8BC7-EDD609D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SIH</a:t>
            </a:r>
          </a:p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A702E-A0AB-4E1F-9573-2DAF8159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CHALLENGES AND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BBEF4-8EA4-4395-B6AB-13CDEB0E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ED977-C993-4037-8FF3-84DA42DE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SAHAY | AI-powered victim well-being and distress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6D52A-ED28-4E9C-8AE4-0EA159E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FDD6A-2EB4-4D6E-97C2-8DD47627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820"/>
                </a:solidFill>
                <a:latin typeface="Arial"/>
                <a:ea typeface="Arial"/>
                <a:cs typeface="Arial"/>
              </a:rPr>
              <a:t>Victims need a safe way to communicate distress before it becomes a crisis.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7E1A2-E20C-4044-A3DD-20D1A926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6C715-6B86-4CB6-AF5D-B70F8C48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0AFA0-5683-4F68-8182-35FFDA3B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94796-8B4E-4C9A-A463-6A35AACA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Delayed escalation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082E3-6217-4A6F-B8D9-0B43298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A person may not reach a counsellor when their condition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034BA-B86C-43FA-8D92-13B3DC22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817A9-C2EC-4FBE-AFF3-55599154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A55E8-8642-414C-A88A-A151DA5B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812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4C857-0CE4-483E-9EBD-0C72448C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Fragmented follow-up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D7E05-FACE-4B78-8AB7-C156D43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Case updates, interventions, and accountability can remain disconnected.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9FAD8-DEE9-4E32-99E9-9C0DF52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BBC19-BECD-4DFD-98CE-0CD03618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694F9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D6E38-B227-4FDC-81F7-A392A0E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812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29BA0-B786-42BF-8F17-B4FA0C6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Privacy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91112-7835-4EB4-832D-DFA19984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Sensitive information needs consent, role-based access, and an audit trail.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0EE9E-32D1-4A57-B32C-C5E5DD7D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SAHAY brings the signal, support workflow, and privacy controls into one system.</a:t>
            </a:r>
          </a:p>
        </p:txBody>
      </p:sp>
    </p:spTree>
    <p:extLst>
      <p:ext uri="{BB962C8B-B14F-4D97-AF65-F5344CB8AC3E}">
        <p14:creationId xmlns:p14="http://schemas.microsoft.com/office/powerpoint/2010/main" val="1707691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6F439-ACC4-43DD-AAA3-9886B9B9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7CA27-B2C9-4FE7-B31A-58C68C7A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SIH</a:t>
            </a:r>
          </a:p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6D2FB-F4D3-4AFD-BD9D-C44863EA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3C906-1F44-4283-A2AD-0548C79C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94852-7E3A-4D3D-8362-DD801D95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SAHAY | AI-powered victim well-being and distress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4BB52-BF19-4C40-9025-810AD895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4FEB0-020B-4632-8997-07A3F3AB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820"/>
                </a:solidFill>
                <a:latin typeface="Arial"/>
                <a:ea typeface="Arial"/>
                <a:cs typeface="Arial"/>
              </a:rPr>
              <a:t>A monitored workflow turns a voluntary check-in into a traceable support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715E2-9091-4BF3-A9BD-E91AD9E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952625" cy="2095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562AD-67BC-4C1E-A8A7-18580E6D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7F875-1EC4-4D3E-A830-F8A4414E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41780-D967-4175-9794-79FD1382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The user chooses what to share.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6A8C2-B537-412C-BD33-551591F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5E315-64AC-436D-A90C-ABB415C3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952625" cy="2095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E0996-366D-4134-B2F5-03AA595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E8058-F3E3-46F6-9EBA-EF99046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Check-in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6C5E9-78D0-49ED-962E-F5E9DCD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Mood, message, and optional district.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EBCFE-0937-4D09-A9A8-B29D5032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9DA33-BF92-4B37-AA5F-C7BD5BA8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952625" cy="2095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9E3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C0260-7050-4031-9F51-155763B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2C79E-17AE-4B4C-8E24-0962D72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456D4-7C3C-47C6-97B1-AA34CCC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Server-side AI returns structured risk.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25157-BB3A-43A9-B225-E4A7EB09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718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2C57A-680A-4DB5-9289-DC51A3F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952625" cy="2095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6157B-58A8-4E9E-AF36-930ED37E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9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7CCE2-2E21-4A6F-A35E-496D2622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051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Alert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9F024-0F69-4EC2-8712-DC88AC6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High-risk cases enter the counsellor queue.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408AF-C87C-4273-9FF9-FF49E146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718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4B316-0B18-4D59-B13F-EA89AD3E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1952625" cy="2095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0ADF97-C4E0-43D3-B89B-C95F58F1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9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467DD-71E2-4470-B5F6-F7B76A8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051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BE58F-AC3C-43B6-9EBA-9A3AB91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57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Intervention and audit record are saved.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4585E-143E-4A8F-B09B-C805442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Stack: Astro + React + TypeScript | Tailwind CSS | Astro API routes | Gemini or OpenAI | Node standalone deployment</a:t>
            </a:r>
          </a:p>
        </p:txBody>
      </p:sp>
    </p:spTree>
    <p:extLst>
      <p:ext uri="{BB962C8B-B14F-4D97-AF65-F5344CB8AC3E}">
        <p14:creationId xmlns:p14="http://schemas.microsoft.com/office/powerpoint/2010/main" val="1725956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7AE66-7916-46BB-8D30-007D6F70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54811-4514-47B2-85F9-35E5D1D7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SIH</a:t>
            </a:r>
          </a:p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003A1-C2F2-483B-A157-6C8B5BCE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E983E-5C09-4060-AE80-C3B443B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CA4D5-1288-4DCE-BACC-C4A15D9D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SAHAY | AI-powered victim well-being and distress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75A09-E14D-421F-8717-28920E9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5CCB6-6AFE-47B5-85F5-0ED9D8F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820"/>
                </a:solidFill>
                <a:latin typeface="Arial"/>
                <a:ea typeface="Arial"/>
                <a:cs typeface="Arial"/>
              </a:rPr>
              <a:t>The prototype uses a lightweight web stack and can grow into a secure service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40461-52EF-4065-8C84-430B105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0673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084E-D282-48BD-8BAE-FDB9D91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6D055-1F6E-457B-A770-A8392EA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ABC1C-E36A-48D7-9C05-3AE6D2B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Astro server with a standalone Node adapter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React interface for victim and counsellor views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Typed API route for AI risk assessment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Gemini primary provider and OpenAI fallback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Mock cases, alerts, analytics, and audit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627D4-0B33-4AFC-B31B-6E37396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1F7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E967A-1F31-4257-A424-AF602EC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7B4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B6C8C-ABDE-45C7-8D9D-42F980BA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IMPLEMENTATION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E9D46-5DA8-4E8B-A75F-AD9A676D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PostgreSQL or Supabase for persistent case records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Server-enforced role-based access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Consent versioning and audit logging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Fallback queue when an AI provider is unavailable</a:t>
            </a:r>
          </a:p>
          <a:p xmlns:a="http://schemas.openxmlformats.org/drawingml/2006/main">
            <a:pPr algn="l">
              <a:defRPr sz="1425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• Aggregated district analytics without personal identifiers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3176F-00D0-43C2-AA35-7A7D387B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Deployment model: web application with secrets stored only in server-side environment variables.</a:t>
            </a:r>
          </a:p>
        </p:txBody>
      </p:sp>
    </p:spTree>
    <p:extLst>
      <p:ext uri="{BB962C8B-B14F-4D97-AF65-F5344CB8AC3E}">
        <p14:creationId xmlns:p14="http://schemas.microsoft.com/office/powerpoint/2010/main" val="435163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D2F69-D3F9-4AD0-BB73-69F54AF2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03E0F-293B-4D84-A2B1-630D4AC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SIH</a:t>
            </a:r>
          </a:p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73060-FBC6-45BC-9D0F-ADA87300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67216-216C-4AA9-A3AB-7B09B20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9BDCA-F34D-4D17-BCEA-34F96B9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SAHAY | AI-powered victim well-being and distress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894E0-EA59-410F-ABFE-ABCDDAC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2C3A9-3358-43B0-A46D-3D0C349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820"/>
                </a:solidFill>
                <a:latin typeface="Arial"/>
                <a:ea typeface="Arial"/>
                <a:cs typeface="Arial"/>
              </a:rPr>
              <a:t>SAHAY supports human decision-making with an accountable, privacy-aware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D4F67-4959-4406-ABD3-4BBAFFDC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081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210DF-27AB-4B48-92E8-C771C55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E64A7-31E0-4B8A-8C3D-682A645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640E1-4969-4D52-9081-0104415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A voluntary check-in channel with clear consent and immediate support guidance.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3A787-8159-4963-8502-8EF9813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1081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DB563-ABEC-4F25-A487-094EC0E5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8B4A6-C655-4B4C-B445-58206CD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Counsellor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2B2CD-0ADF-46CA-851F-08AD8C3B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04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A prioritised queue, case context, and a record of follow-up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69A82-F178-47A6-8B29-59BB4E69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81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03F76-CD9C-4AEA-B868-012DF9C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694F9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36E5E-BB95-4898-A68D-D00FA56F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District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32CDE-7B21-456D-AD51-3E7C8EF3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719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Anonymised trends that help identify where support capacity is needed.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41C21-7024-4ED5-AE7B-95F1067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Safety principle: the system supports escalation and follow-up. It does not provide a clinical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33390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1F08C6-1A0E-4477-8216-DF2CCCE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4C7C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C424D-667D-4E03-99CE-9DF7503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SIH</a:t>
            </a:r>
          </a:p>
          <a:p xmlns:a="http://schemas.openxmlformats.org/drawingml/2006/main">
            <a:pPr algn="r">
              <a:defRPr sz="1350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E845D-4CBA-4CA4-9ED7-745E1740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94F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F9B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00D01-B5E7-4EC1-8A41-493E3E4E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3175"/>
            <a:ext cx="12192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3F44-07F9-45E6-9D72-A6D6BC9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SAHAY | AI-powered victim well-being and distress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9C880-6705-4EEC-A9D6-B70BEB7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3706B-1028-412B-A7BF-17E93E0D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2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820"/>
                </a:solidFill>
                <a:latin typeface="Arial"/>
                <a:ea typeface="Arial"/>
                <a:cs typeface="Arial"/>
              </a:rPr>
              <a:t>Design decisions are grounded in trauma-informed support, data minimisation, and accountable case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32239-01BC-44DC-B203-DCF846A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5095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0729D-8976-4242-8E10-6EFFC33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D37D6-4D1F-48BB-B3C0-2A6B4D8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8B392-E88C-4D23-80DC-74A7FE2D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28875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Trauma-informed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6C0BD-68F9-480F-B719-7D4D20ED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6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Use calm, non-judgmental language and clear escalation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DAEFD-E326-43FD-82A7-45BC8DF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38375"/>
            <a:ext cx="5095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AA832-5F82-44AA-8C75-455B680E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28875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7B4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C8893-1F1B-4B56-B832-B5F0D80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9555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5C00E-E288-456D-9877-533005AE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28875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Data minimisation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D822D-89B9-483F-A037-913E05E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90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Request only the information necessary for the chosen support pathway.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33A16-6C8A-4CDA-B1E1-88E7F37D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095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719EE-BA59-4DC4-83C0-38A5CC9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FBEF4-274E-40EE-A260-0451AE7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3D3F6-3278-4CE3-8A93-0F80CF3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Role-based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2ACA7-B79F-4C8D-AF58-92B06C3C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Restrict counsellor and administrator views on the server side.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4F2D1-0666-4EBC-80FC-210B79E8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19500"/>
            <a:ext cx="5095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AC51F-8118-44DF-8E8C-4D41600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1000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34C7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B12A0-A0AE-4E31-825F-1304F4E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76675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C59D6-5456-4385-A42A-6B99E6D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10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36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3655"/>
                </a:solidFill>
                <a:latin typeface="Arial"/>
                <a:ea typeface="Arial"/>
                <a:cs typeface="Arial"/>
              </a:rPr>
              <a:t>Auditability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0A73EB-46F8-4E8E-BE59-98F1CEE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71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6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1820"/>
                </a:solidFill>
                <a:latin typeface="Arial"/>
                <a:ea typeface="Arial"/>
                <a:cs typeface="Arial"/>
              </a:rPr>
              <a:t>Record important case access and action events for accountability.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1D5B3-CC49-4EEF-BC01-B5E50FC8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Implementation references: Astro documentation, React documentation, Tailwind CSS documentation, Gemini API documentation, OpenAI API documentation.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53A037-7273-469B-8869-686164D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Before submission: add the official SIH problem statement, team details, and validated deployment partner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43002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2026-09-13T07:38:00.4850000Z</dcterms:created>
  <dcterms:modified xsi:type="dcterms:W3CDTF">2026-09-13T07:38:00.4850000Z</dcterms:modified>
</coreProperties>
</file>